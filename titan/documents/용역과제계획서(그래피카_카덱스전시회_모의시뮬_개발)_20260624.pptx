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9" r:id="rId4"/>
    <p:sldId id="268" r:id="rId5"/>
    <p:sldId id="266" r:id="rId6"/>
    <p:sldId id="264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414"/>
    <a:srgbClr val="FF0000"/>
    <a:srgbClr val="FFFFFF"/>
    <a:srgbClr val="00B0F0"/>
    <a:srgbClr val="F8F8F8"/>
    <a:srgbClr val="C0C0C0"/>
    <a:srgbClr val="E9E9EB"/>
    <a:srgbClr val="000000"/>
    <a:srgbClr val="CBCBCB"/>
    <a:srgbClr val="76E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2" autoAdjust="0"/>
  </p:normalViewPr>
  <p:slideViewPr>
    <p:cSldViewPr snapToGrid="0">
      <p:cViewPr varScale="1">
        <p:scale>
          <a:sx n="159" d="100"/>
          <a:sy n="159" d="100"/>
        </p:scale>
        <p:origin x="6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9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9">
            <a:extLst>
              <a:ext uri="{FF2B5EF4-FFF2-40B4-BE49-F238E27FC236}">
                <a16:creationId xmlns:a16="http://schemas.microsoft.com/office/drawing/2014/main" id="{88C53616-4E8B-9FEF-3394-E1DA8D526B8C}"/>
              </a:ext>
            </a:extLst>
          </p:cNvPr>
          <p:cNvCxnSpPr>
            <a:cxnSpLocks/>
          </p:cNvCxnSpPr>
          <p:nvPr userDrawn="1"/>
        </p:nvCxnSpPr>
        <p:spPr>
          <a:xfrm>
            <a:off x="0" y="6631409"/>
            <a:ext cx="9906000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</p:cxnSp>
      <p:cxnSp>
        <p:nvCxnSpPr>
          <p:cNvPr id="8" name="Straight Connector 9">
            <a:extLst>
              <a:ext uri="{FF2B5EF4-FFF2-40B4-BE49-F238E27FC236}">
                <a16:creationId xmlns:a16="http://schemas.microsoft.com/office/drawing/2014/main" id="{4E0DDA2D-FCD3-170B-E4E1-E8518975E25B}"/>
              </a:ext>
            </a:extLst>
          </p:cNvPr>
          <p:cNvCxnSpPr>
            <a:cxnSpLocks/>
          </p:cNvCxnSpPr>
          <p:nvPr userDrawn="1"/>
        </p:nvCxnSpPr>
        <p:spPr>
          <a:xfrm>
            <a:off x="0" y="571891"/>
            <a:ext cx="99060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E44C57F-81F0-D612-7816-98126842A8EC}"/>
              </a:ext>
            </a:extLst>
          </p:cNvPr>
          <p:cNvSpPr txBox="1"/>
          <p:nvPr userDrawn="1"/>
        </p:nvSpPr>
        <p:spPr>
          <a:xfrm>
            <a:off x="3153000" y="6636705"/>
            <a:ext cx="3600000" cy="226591"/>
          </a:xfrm>
          <a:prstGeom prst="rect">
            <a:avLst/>
          </a:prstGeom>
        </p:spPr>
        <p:txBody>
          <a:bodyPr vert="horz" wrap="square" lIns="36000" tIns="36000" rIns="36000" bIns="36000" rtlCol="0" anchor="ctr">
            <a:spAutoFit/>
          </a:bodyPr>
          <a:lstStyle>
            <a:defPPr>
              <a:defRPr lang="en-US"/>
            </a:defPPr>
            <a:lvl1pPr algn="ctr">
              <a:defRPr kumimoji="1" sz="1000">
                <a:latin typeface="맑은 고딕"/>
                <a:ea typeface="굴림" pitchFamily="50" charset="-127"/>
                <a:cs typeface="Malgun Gothic Semilight" panose="020B0503020000020004" pitchFamily="34" charset="-127"/>
              </a:defRPr>
            </a:lvl1pPr>
          </a:lstStyle>
          <a:p>
            <a:pPr lvl="0"/>
            <a:r>
              <a:rPr lang="en-US" altLang="ko-KR" dirty="0"/>
              <a:t>Copyright 2025. GrapiCar, Inc. All rights reserved.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3A3395B-EB4E-2F1F-4640-1EEF4E1BD0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" t="37710" r="23522" b="49678"/>
          <a:stretch/>
        </p:blipFill>
        <p:spPr>
          <a:xfrm>
            <a:off x="7642300" y="0"/>
            <a:ext cx="2263700" cy="56659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55333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D3C88E6-ED73-B102-2FB2-268450F41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1154" y="4797152"/>
            <a:ext cx="1614792" cy="885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/>
          <a:p>
            <a:pPr marL="342900" indent="-342900" algn="ctr">
              <a:spcBef>
                <a:spcPct val="20000"/>
              </a:spcBef>
            </a:pPr>
            <a:r>
              <a:rPr lang="en-US" altLang="ko-KR" sz="2400" u="none" dirty="0">
                <a:latin typeface="+mj-ea"/>
                <a:ea typeface="+mj-ea"/>
              </a:rPr>
              <a:t>2026.</a:t>
            </a:r>
            <a:r>
              <a:rPr lang="ko-KR" altLang="en-US" sz="2400" u="none" dirty="0">
                <a:latin typeface="+mj-ea"/>
                <a:ea typeface="+mj-ea"/>
              </a:rPr>
              <a:t> </a:t>
            </a:r>
            <a:r>
              <a:rPr lang="en-US" altLang="ko-KR" sz="2400" u="none" dirty="0">
                <a:latin typeface="+mj-ea"/>
                <a:ea typeface="+mj-ea"/>
              </a:rPr>
              <a:t>6. </a:t>
            </a:r>
            <a:r>
              <a:rPr lang="en-US" altLang="ko-KR" sz="2400" dirty="0">
                <a:latin typeface="+mj-ea"/>
                <a:ea typeface="+mj-ea"/>
              </a:rPr>
              <a:t>24</a:t>
            </a:r>
            <a:endParaRPr lang="en-US" altLang="ko-KR" sz="2400" u="none" dirty="0">
              <a:latin typeface="+mj-ea"/>
              <a:ea typeface="+mj-ea"/>
            </a:endParaRPr>
          </a:p>
          <a:p>
            <a:pPr marL="342900" indent="-342900" algn="ctr">
              <a:spcBef>
                <a:spcPct val="20000"/>
              </a:spcBef>
            </a:pPr>
            <a:r>
              <a:rPr lang="ko-KR" altLang="en-US" sz="2400" u="none" dirty="0">
                <a:latin typeface="+mj-ea"/>
                <a:ea typeface="+mj-ea"/>
              </a:rPr>
              <a:t>㈜</a:t>
            </a:r>
            <a:r>
              <a:rPr lang="ko-KR" altLang="en-US" sz="2400" u="none" dirty="0" err="1">
                <a:latin typeface="+mj-ea"/>
                <a:ea typeface="+mj-ea"/>
              </a:rPr>
              <a:t>그래피카</a:t>
            </a:r>
            <a:endParaRPr lang="en-US" altLang="ko-KR" sz="2400" u="none" dirty="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1DAF5-66A3-AAAC-96C9-5018E51E799B}"/>
              </a:ext>
            </a:extLst>
          </p:cNvPr>
          <p:cNvSpPr txBox="1"/>
          <p:nvPr/>
        </p:nvSpPr>
        <p:spPr>
          <a:xfrm>
            <a:off x="866775" y="1608137"/>
            <a:ext cx="8305800" cy="146423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32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용역 과제 계획서</a:t>
            </a:r>
            <a:endParaRPr lang="en-US" altLang="ko-KR" sz="3200" b="1" dirty="0">
              <a:solidFill>
                <a:srgbClr val="000000"/>
              </a:solidFill>
              <a:latin typeface="현대하모니 B" pitchFamily="18" charset="-127"/>
              <a:ea typeface="현대하모니 B" pitchFamily="18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32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- </a:t>
            </a:r>
            <a:r>
              <a:rPr lang="ko-KR" altLang="en-US" sz="3200" b="1" dirty="0" err="1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카덱스</a:t>
            </a:r>
            <a:r>
              <a:rPr lang="ko-KR" altLang="en-US" sz="32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전시회 </a:t>
            </a:r>
            <a:r>
              <a:rPr lang="en-US" altLang="ko-KR" sz="32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UAV/UGV </a:t>
            </a:r>
            <a:r>
              <a:rPr lang="ko-KR" altLang="en-US" sz="32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모의 </a:t>
            </a:r>
            <a:r>
              <a:rPr lang="ko-KR" altLang="en-US" sz="3200" b="1" dirty="0" err="1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시뮬</a:t>
            </a:r>
            <a:r>
              <a:rPr lang="ko-KR" altLang="en-US" sz="32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개발 </a:t>
            </a:r>
            <a:r>
              <a:rPr lang="en-US" altLang="ko-KR" sz="32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1880882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20F11257-9B8D-A2C7-0C2E-BA17FB09D9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"/>
            <a:ext cx="4784035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800" dirty="0">
                <a:latin typeface="+mj-ea"/>
                <a:ea typeface="+mj-ea"/>
              </a:rPr>
              <a:t>1.</a:t>
            </a:r>
            <a:r>
              <a:rPr lang="ko-KR" altLang="en-US" sz="2800" dirty="0">
                <a:latin typeface="+mj-ea"/>
                <a:ea typeface="+mj-ea"/>
              </a:rPr>
              <a:t> 개발 개요 및 범위</a:t>
            </a:r>
          </a:p>
        </p:txBody>
      </p:sp>
      <p:sp>
        <p:nvSpPr>
          <p:cNvPr id="2" name="AutoShape 761">
            <a:extLst>
              <a:ext uri="{FF2B5EF4-FFF2-40B4-BE49-F238E27FC236}">
                <a16:creationId xmlns:a16="http://schemas.microsoft.com/office/drawing/2014/main" id="{7688756B-B1E0-1030-BC86-DA189747D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863" y="708249"/>
            <a:ext cx="219675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1)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개발 개요</a:t>
            </a:r>
          </a:p>
        </p:txBody>
      </p:sp>
      <p:sp>
        <p:nvSpPr>
          <p:cNvPr id="3" name="오각형 22">
            <a:extLst>
              <a:ext uri="{FF2B5EF4-FFF2-40B4-BE49-F238E27FC236}">
                <a16:creationId xmlns:a16="http://schemas.microsoft.com/office/drawing/2014/main" id="{0718FEC1-6861-7070-49B3-7C709CA16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1196752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개발 목적</a:t>
            </a:r>
          </a:p>
        </p:txBody>
      </p:sp>
      <p:sp>
        <p:nvSpPr>
          <p:cNvPr id="11" name="TextBox 23">
            <a:extLst>
              <a:ext uri="{FF2B5EF4-FFF2-40B4-BE49-F238E27FC236}">
                <a16:creationId xmlns:a16="http://schemas.microsoft.com/office/drawing/2014/main" id="{72F4016F-7D26-B09A-1129-36E43C65027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17698" y="1196752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600" b="1" dirty="0" err="1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카덱스</a:t>
            </a:r>
            <a:r>
              <a:rPr lang="ko-KR" altLang="en-US" sz="16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 전시회 </a:t>
            </a:r>
            <a:r>
              <a:rPr lang="en-US" altLang="ko-KR" sz="16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UAV/UGV </a:t>
            </a:r>
            <a:r>
              <a:rPr lang="ko-KR" altLang="en-US" sz="1600" b="1" dirty="0">
                <a:solidFill>
                  <a:srgbClr val="000000"/>
                </a:solidFill>
                <a:latin typeface="현대하모니 B" pitchFamily="18" charset="-127"/>
                <a:ea typeface="현대하모니 B" pitchFamily="18" charset="-127"/>
              </a:rPr>
              <a:t>모의 시뮬레이션 개발</a:t>
            </a:r>
            <a:endParaRPr kumimoji="0" lang="en-US" altLang="ko-KR" sz="1600" u="none" kern="0" dirty="0">
              <a:solidFill>
                <a:sysClr val="windowText" lastClr="000000"/>
              </a:solidFill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12" name="오각형 22">
            <a:extLst>
              <a:ext uri="{FF2B5EF4-FFF2-40B4-BE49-F238E27FC236}">
                <a16:creationId xmlns:a16="http://schemas.microsoft.com/office/drawing/2014/main" id="{4C6F9AEA-8473-BEED-F818-A2260F020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25" y="1844824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개발 기간</a:t>
            </a:r>
          </a:p>
        </p:txBody>
      </p:sp>
      <p:sp>
        <p:nvSpPr>
          <p:cNvPr id="13" name="TextBox 23">
            <a:extLst>
              <a:ext uri="{FF2B5EF4-FFF2-40B4-BE49-F238E27FC236}">
                <a16:creationId xmlns:a16="http://schemas.microsoft.com/office/drawing/2014/main" id="{C592E4F4-CF97-C5EE-0B73-A40C0DA0B3DC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28663" y="1844824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2026.06.</a:t>
            </a:r>
            <a:r>
              <a:rPr lang="en-US" altLang="ko-KR" sz="1600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01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 ~ 2026.9.30 (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총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5 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개월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)</a:t>
            </a:r>
          </a:p>
        </p:txBody>
      </p:sp>
      <p:sp>
        <p:nvSpPr>
          <p:cNvPr id="14" name="AutoShape 761">
            <a:extLst>
              <a:ext uri="{FF2B5EF4-FFF2-40B4-BE49-F238E27FC236}">
                <a16:creationId xmlns:a16="http://schemas.microsoft.com/office/drawing/2014/main" id="{C0B20765-8274-FD3D-E107-34A981B82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975" y="3501008"/>
            <a:ext cx="2196753" cy="344487"/>
          </a:xfrm>
          <a:prstGeom prst="roundRect">
            <a:avLst>
              <a:gd name="adj" fmla="val 23787"/>
            </a:avLst>
          </a:prstGeom>
          <a:solidFill>
            <a:srgbClr val="003366"/>
          </a:solidFill>
          <a:ln w="19050" algn="ctr">
            <a:solidFill>
              <a:schemeClr val="bg1"/>
            </a:solidFill>
            <a:round/>
            <a:headEnd/>
            <a:tailEnd/>
          </a:ln>
          <a:effectLst>
            <a:outerShdw dist="28334" dir="3802190" algn="ctr" rotWithShape="0">
              <a:schemeClr val="bg2">
                <a:alpha val="50000"/>
              </a:schemeClr>
            </a:outerShdw>
          </a:effectLst>
        </p:spPr>
        <p:txBody>
          <a:bodyPr wrap="none" lIns="72000" tIns="0" rIns="0" bIns="0" anchor="ctr"/>
          <a:lstStyle/>
          <a:p>
            <a:pPr>
              <a:lnSpc>
                <a:spcPct val="90000"/>
              </a:lnSpc>
              <a:defRPr/>
            </a:pP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  <a:sym typeface="Wingdings" pitchFamily="2" charset="2"/>
              </a:rPr>
              <a:t>2)</a:t>
            </a:r>
            <a:r>
              <a:rPr lang="en-US" altLang="ko-KR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lang="ko-KR" altLang="en-US" sz="180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현대하모니 M" pitchFamily="18" charset="-127"/>
                <a:ea typeface="현대하모니 M" pitchFamily="18" charset="-127"/>
              </a:rPr>
              <a:t>개발 내용 및 범위</a:t>
            </a:r>
          </a:p>
        </p:txBody>
      </p:sp>
      <p:sp>
        <p:nvSpPr>
          <p:cNvPr id="15" name="오각형 22">
            <a:extLst>
              <a:ext uri="{FF2B5EF4-FFF2-40B4-BE49-F238E27FC236}">
                <a16:creationId xmlns:a16="http://schemas.microsoft.com/office/drawing/2014/main" id="{5BE2943C-73C9-2F76-72EB-63782B048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520" y="2492896"/>
            <a:ext cx="1203325" cy="576064"/>
          </a:xfrm>
          <a:prstGeom prst="homePlate">
            <a:avLst>
              <a:gd name="adj" fmla="val 19332"/>
            </a:avLst>
          </a:prstGeom>
          <a:solidFill>
            <a:srgbClr val="DDDDDD">
              <a:alpha val="69803"/>
            </a:srgbClr>
          </a:solidFill>
          <a:ln w="19050" algn="ctr">
            <a:solidFill>
              <a:srgbClr val="969696"/>
            </a:solidFill>
            <a:round/>
            <a:headEnd/>
            <a:tailEnd/>
          </a:ln>
        </p:spPr>
        <p:txBody>
          <a:bodyPr wrap="none" anchor="ctr" anchorCtr="1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개발 비용</a:t>
            </a:r>
          </a:p>
        </p:txBody>
      </p:sp>
      <p:sp>
        <p:nvSpPr>
          <p:cNvPr id="16" name="TextBox 23">
            <a:extLst>
              <a:ext uri="{FF2B5EF4-FFF2-40B4-BE49-F238E27FC236}">
                <a16:creationId xmlns:a16="http://schemas.microsoft.com/office/drawing/2014/main" id="{3D0AD3A4-A6A4-E164-D162-4DE42D905C42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918393" y="2492896"/>
            <a:ext cx="7356475" cy="576064"/>
          </a:xfrm>
          <a:prstGeom prst="rect">
            <a:avLst/>
          </a:prstGeom>
          <a:solidFill>
            <a:srgbClr val="DDDDDD">
              <a:alpha val="30196"/>
            </a:srgbClr>
          </a:solidFill>
          <a:ln w="19050">
            <a:solidFill>
              <a:srgbClr val="969696"/>
            </a:solidFill>
            <a:miter lim="800000"/>
            <a:headEnd/>
            <a:tailEnd/>
          </a:ln>
        </p:spPr>
        <p:txBody>
          <a:bodyPr wrap="none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100,000,000</a:t>
            </a:r>
            <a:r>
              <a:rPr kumimoji="0" lang="ko-KR" altLang="en-US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원 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(</a:t>
            </a:r>
            <a:r>
              <a:rPr kumimoji="0" lang="ko-KR" altLang="en-US" sz="1600" u="none" kern="0" dirty="0" err="1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일억원</a:t>
            </a:r>
            <a:r>
              <a:rPr kumimoji="0" lang="en-US" altLang="ko-KR" sz="1600" u="none" kern="0" dirty="0">
                <a:solidFill>
                  <a:sysClr val="windowText" lastClr="000000"/>
                </a:solidFill>
                <a:latin typeface="현대하모니 M" pitchFamily="18" charset="-127"/>
                <a:ea typeface="현대하모니 M" pitchFamily="18" charset="-127"/>
              </a:rPr>
              <a:t>)</a:t>
            </a: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F8609B61-9823-F751-1DAD-41F0B5159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957721"/>
              </p:ext>
            </p:extLst>
          </p:nvPr>
        </p:nvGraphicFramePr>
        <p:xfrm>
          <a:off x="488949" y="3944691"/>
          <a:ext cx="8785223" cy="2449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30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221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778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항목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20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주요 개발 내용 및 범위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79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S/W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8</a:t>
                      </a: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개 시나리오 별 시뮬레이션 개발</a:t>
                      </a:r>
                      <a:endParaRPr lang="en-US" altLang="ko-KR" sz="14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742950" lvl="1" indent="-285750" algn="l" defTabSz="914400" rtl="0" eaLnBrk="1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작전환경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야지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)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모델 렌더링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742950" lvl="1" indent="-285750" algn="l" defTabSz="914400" rtl="0" eaLnBrk="1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UAV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원격 제어 및 실시간 영상 시작화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742950" lvl="1" indent="-285750" algn="l" defTabSz="914400" rtl="0" eaLnBrk="1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적 특장 부대 병력 및 낙하산 모델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Spwan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742950" lvl="1" indent="-285750" algn="l" defTabSz="914400" rtl="0" eaLnBrk="1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UGV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목적지 좌표 정보 수신 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 UGB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이동 및 실시간 영상 시각화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742950" lvl="1" indent="-285750" algn="l" defTabSz="914400" rtl="0" eaLnBrk="1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매복지역 아군 병력 </a:t>
                      </a:r>
                      <a:r>
                        <a:rPr lang="en-US" altLang="ko-KR" sz="1000" kern="1200" baseline="0" dirty="0" err="1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Spwan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742950" lvl="1" indent="-285750" algn="l" defTabSz="914400" rtl="0" eaLnBrk="1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아군 병력 이동 및 매복 모사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742950" lvl="1" indent="-285750" algn="l" defTabSz="914400" rtl="0" eaLnBrk="1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UGV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원격 사격 실시 및 적군 이동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  <a:p>
                      <a:pPr marL="742950" lvl="1" indent="-285750" algn="l" defTabSz="914400" rtl="0" eaLnBrk="1" latinLnBrk="1" hangingPunct="1">
                        <a:lnSpc>
                          <a:spcPct val="120000"/>
                        </a:lnSpc>
                        <a:buFontTx/>
                        <a:buChar char="-"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RCWS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사격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/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피격 효과 모의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,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적 섬멸</a:t>
                      </a:r>
                      <a:endParaRPr lang="en-US" altLang="ko-KR" sz="1000" kern="1200" baseline="0" dirty="0">
                        <a:solidFill>
                          <a:schemeClr val="tx1"/>
                        </a:solidFill>
                        <a:latin typeface="현대하모니 M" pitchFamily="18" charset="-127"/>
                        <a:ea typeface="현대하모니 M" pitchFamily="18" charset="-127"/>
                        <a:cs typeface="+mn-cs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797">
                <a:tc v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현대하모니 M" pitchFamily="18" charset="-127"/>
                          <a:ea typeface="현대하모니 M" pitchFamily="18" charset="-127"/>
                        </a:rPr>
                        <a:t>S/W</a:t>
                      </a:r>
                      <a:endParaRPr lang="ko-KR" altLang="en-US" sz="1400" dirty="0"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buFont typeface="Wingdings" pitchFamily="2" charset="2"/>
                        <a:buChar char="§"/>
                      </a:pPr>
                      <a:r>
                        <a:rPr lang="en-US" altLang="ko-KR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 </a:t>
                      </a:r>
                      <a:r>
                        <a:rPr lang="ko-KR" altLang="en-US" sz="1400" kern="1200" baseline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모의 훈련 환경 </a:t>
                      </a:r>
                      <a:r>
                        <a:rPr lang="ko-KR" altLang="en-US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모델링 </a:t>
                      </a:r>
                      <a:r>
                        <a:rPr lang="en-US" altLang="ko-KR" sz="1400" kern="1200" baseline="0" dirty="0">
                          <a:solidFill>
                            <a:schemeClr val="tx1"/>
                          </a:solidFill>
                          <a:latin typeface="현대하모니 M" pitchFamily="18" charset="-127"/>
                          <a:ea typeface="현대하모니 M" pitchFamily="18" charset="-127"/>
                          <a:cs typeface="+mn-cs"/>
                        </a:rPr>
                        <a:t>( 1 Km x 1 Km )</a:t>
                      </a:r>
                    </a:p>
                  </a:txBody>
                  <a:tcPr marL="91435" marR="91435" marT="45703" marB="45703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655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51D2A-1919-B8A3-1D9A-95808A572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8007DE4-D922-C065-B588-521D0665B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"/>
            <a:ext cx="4784035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800" dirty="0">
                <a:latin typeface="+mj-ea"/>
                <a:ea typeface="+mj-ea"/>
              </a:rPr>
              <a:t>2.</a:t>
            </a:r>
            <a:r>
              <a:rPr lang="ko-KR" altLang="en-US" sz="2800" dirty="0">
                <a:latin typeface="+mj-ea"/>
                <a:ea typeface="+mj-ea"/>
              </a:rPr>
              <a:t> 주요 개발 항목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1BDAF9-2A15-854A-6C35-B9F61AF2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910" y="689735"/>
            <a:ext cx="8849227" cy="59322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47832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5CA77-8A2F-0B0C-E935-C7823133F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39E93F1-B6E9-4AEC-7CC5-E109296D3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"/>
            <a:ext cx="4784035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800" dirty="0">
                <a:latin typeface="+mj-ea"/>
                <a:ea typeface="+mj-ea"/>
              </a:rPr>
              <a:t>3.</a:t>
            </a:r>
            <a:r>
              <a:rPr lang="ko-KR" altLang="en-US" sz="2800" dirty="0">
                <a:latin typeface="+mj-ea"/>
                <a:ea typeface="+mj-ea"/>
              </a:rPr>
              <a:t> 개발 일정 </a:t>
            </a:r>
            <a:r>
              <a:rPr lang="en-US" altLang="ko-KR" sz="2800" dirty="0">
                <a:latin typeface="+mj-ea"/>
                <a:ea typeface="+mj-ea"/>
              </a:rPr>
              <a:t>(WBS)</a:t>
            </a:r>
            <a:endParaRPr lang="ko-KR" altLang="en-US" sz="2800" dirty="0">
              <a:latin typeface="+mj-ea"/>
              <a:ea typeface="+mj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DB76EE5-FDD6-363A-88D0-08AC00A7D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58" y="2402625"/>
            <a:ext cx="8509365" cy="2317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71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08FA-9C88-034A-1FCF-26E945777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3BC9576-04FC-FFA1-B5A6-CD2F73EDE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"/>
            <a:ext cx="4784035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800" dirty="0">
                <a:latin typeface="+mj-ea"/>
                <a:ea typeface="+mj-ea"/>
              </a:rPr>
              <a:t>4.</a:t>
            </a:r>
            <a:r>
              <a:rPr lang="ko-KR" altLang="en-US" sz="2800" dirty="0">
                <a:latin typeface="+mj-ea"/>
                <a:ea typeface="+mj-ea"/>
              </a:rPr>
              <a:t> 용역 산출물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D5606C8-ED37-18DB-9738-C6E16C088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6" y="1502229"/>
            <a:ext cx="9386597" cy="3928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47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AA5FFE64-E0C7-A903-544E-D540B0547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-1"/>
            <a:ext cx="5842001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508000" indent="-508000"/>
            <a:r>
              <a:rPr lang="en-US" altLang="ko-KR" sz="2800" u="none" dirty="0">
                <a:solidFill>
                  <a:schemeClr val="tx1"/>
                </a:solidFill>
                <a:latin typeface="+mj-ea"/>
                <a:ea typeface="+mj-ea"/>
              </a:rPr>
              <a:t>5.</a:t>
            </a:r>
            <a:r>
              <a:rPr lang="ko-KR" altLang="en-US" sz="2800" u="none" dirty="0">
                <a:solidFill>
                  <a:schemeClr val="tx1"/>
                </a:solidFill>
                <a:latin typeface="+mj-ea"/>
                <a:ea typeface="+mj-ea"/>
              </a:rPr>
              <a:t> 개발 용역 단가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375AEA-48B7-FF3D-F0ED-65989C04A7F8}"/>
              </a:ext>
            </a:extLst>
          </p:cNvPr>
          <p:cNvSpPr txBox="1"/>
          <p:nvPr/>
        </p:nvSpPr>
        <p:spPr>
          <a:xfrm>
            <a:off x="304800" y="1116569"/>
            <a:ext cx="5549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■ 개발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ko-KR" altLang="en-US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용역 비용 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:   </a:t>
            </a:r>
            <a:r>
              <a:rPr lang="ko-KR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￦</a:t>
            </a:r>
            <a:r>
              <a:rPr lang="en-US" altLang="ko-KR" b="1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 </a:t>
            </a:r>
            <a:r>
              <a:rPr lang="en-US" altLang="ko-KR" b="1" u="sng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435,000,000 (</a:t>
            </a:r>
            <a:r>
              <a:rPr lang="ko-KR" altLang="en-US" b="1" u="sng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부가세 별도</a:t>
            </a:r>
            <a:r>
              <a:rPr lang="en-US" altLang="ko-KR" b="1" u="sng" dirty="0">
                <a:latin typeface="LG Smart UI Regular" panose="020B0500000101010101" pitchFamily="50" charset="-127"/>
                <a:ea typeface="LG Smart UI Regular" panose="020B0500000101010101" pitchFamily="50" charset="-127"/>
              </a:rPr>
              <a:t>)</a:t>
            </a:r>
            <a:endParaRPr lang="ko-KR" altLang="en-US" b="1" u="sng" dirty="0">
              <a:latin typeface="LG Smart UI Regular" panose="020B0500000101010101" pitchFamily="50" charset="-127"/>
              <a:ea typeface="LG Smart UI Regular" panose="020B0500000101010101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DA953BF-4319-2C2B-1574-3489BB8B7E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25519"/>
              </p:ext>
            </p:extLst>
          </p:nvPr>
        </p:nvGraphicFramePr>
        <p:xfrm>
          <a:off x="6493628" y="811763"/>
          <a:ext cx="2997200" cy="715957"/>
        </p:xfrm>
        <a:graphic>
          <a:graphicData uri="http://schemas.openxmlformats.org/drawingml/2006/table">
            <a:tbl>
              <a:tblPr/>
              <a:tblGrid>
                <a:gridCol w="1016000">
                  <a:extLst>
                    <a:ext uri="{9D8B030D-6E8A-4147-A177-3AD203B41FA5}">
                      <a16:colId xmlns:a16="http://schemas.microsoft.com/office/drawing/2014/main" val="43807059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74260320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1816396964"/>
                    </a:ext>
                  </a:extLst>
                </a:gridCol>
              </a:tblGrid>
              <a:tr h="37076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4281116"/>
                  </a:ext>
                </a:extLst>
              </a:tr>
              <a:tr h="3451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6,595,950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8,102,735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9,102,866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423838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F6F063C5-23DF-3E44-CCDC-782C5843F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987" y="1605765"/>
            <a:ext cx="7058025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45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4891</TotalTime>
  <Words>191</Words>
  <Application>Microsoft Office PowerPoint</Application>
  <PresentationFormat>A4 용지(210x297mm)</PresentationFormat>
  <Paragraphs>37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재효 최</dc:creator>
  <cp:lastModifiedBy>준영 김</cp:lastModifiedBy>
  <cp:revision>135</cp:revision>
  <dcterms:created xsi:type="dcterms:W3CDTF">2023-10-23T07:20:16Z</dcterms:created>
  <dcterms:modified xsi:type="dcterms:W3CDTF">2026-06-23T08:20:18Z</dcterms:modified>
</cp:coreProperties>
</file>